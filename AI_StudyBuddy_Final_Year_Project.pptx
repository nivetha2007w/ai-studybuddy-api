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61120" y="-914400"/>
            <a:ext cx="5486400" cy="54864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371600" y="5029200"/>
            <a:ext cx="5486400" cy="54864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Calibri"/>
              </a:rPr>
              <a:t>AI StudyBuddy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971800"/>
            <a:ext cx="2011680" cy="4445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7D2FE"/>
                </a:solidFill>
                <a:latin typeface="Calibri"/>
              </a:rPr>
              <a:t>Your Intelligent AI-Powered Personal Learning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Final Year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Department of Computer Science  |  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09728" cy="7772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What we will walk through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5240"/>
          </a:xfrm>
          <a:prstGeom prst="rect">
            <a:avLst/>
          </a:prstGeom>
          <a:solidFill>
            <a:srgbClr val="E2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474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82296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385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677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440"/>
                </a:solidFill>
                <a:latin typeface="Calibri"/>
              </a:rPr>
              <a:t>Problem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828800"/>
            <a:ext cx="3474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20" y="1828800"/>
            <a:ext cx="82296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19385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2677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440"/>
                </a:solidFill>
                <a:latin typeface="Calibri"/>
              </a:rPr>
              <a:t>Proposed 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3474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1828800"/>
            <a:ext cx="82296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19385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22677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440"/>
                </a:solidFill>
                <a:latin typeface="Calibri"/>
              </a:rPr>
              <a:t>Key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00400"/>
            <a:ext cx="3474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200400"/>
            <a:ext cx="82296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3101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6393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440"/>
                </a:solidFill>
                <a:latin typeface="Calibri"/>
              </a:rPr>
              <a:t>System 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200400"/>
            <a:ext cx="3474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17720" y="3200400"/>
            <a:ext cx="82296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3752" y="33101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36393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440"/>
                </a:solidFill>
                <a:latin typeface="Calibri"/>
              </a:rPr>
              <a:t>Technology Stack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3200400"/>
            <a:ext cx="3474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0" y="3200400"/>
            <a:ext cx="82296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2" y="33101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8512" y="36393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440"/>
                </a:solidFill>
                <a:latin typeface="Calibri"/>
              </a:rPr>
              <a:t>How It Works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572000"/>
            <a:ext cx="3474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4572000"/>
            <a:ext cx="82296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46817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50109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440"/>
                </a:solidFill>
                <a:latin typeface="Calibri"/>
              </a:rPr>
              <a:t>Benefits &amp; Impact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20" y="4572000"/>
            <a:ext cx="3474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17720" y="4572000"/>
            <a:ext cx="82296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73752" y="46817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3752" y="50109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440"/>
                </a:solidFill>
                <a:latin typeface="Calibri"/>
              </a:rPr>
              <a:t>Future Growth &amp; Roadmap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4572000"/>
            <a:ext cx="3474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12480" y="4572000"/>
            <a:ext cx="82296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68512" y="46817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68512" y="50109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3440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09728" cy="7772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Challenges faced by today's students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5240"/>
          </a:xfrm>
          <a:prstGeom prst="rect">
            <a:avLst/>
          </a:prstGeom>
          <a:solidFill>
            <a:srgbClr val="E2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4406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440680" cy="128016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Calibri"/>
              </a:rPr>
              <a:t>One-size-fits-all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Classroom teaching cannot adapt to every student's pace and learning style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828800"/>
            <a:ext cx="54406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1828800"/>
            <a:ext cx="5440680" cy="128016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148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Calibri"/>
              </a:rPr>
              <a:t>Information overload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7432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Students struggle to filter relevant study material from massive online content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54406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977639"/>
            <a:ext cx="5440680" cy="128016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7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Calibri"/>
              </a:rPr>
              <a:t>No instant doubt 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92039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Doubts remain unresolved outside classroom hours, breaking the learning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977639"/>
            <a:ext cx="54406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3977639"/>
            <a:ext cx="5440680" cy="128016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429767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2E"/>
                </a:solidFill>
                <a:latin typeface="Calibri"/>
              </a:rPr>
              <a:t>Poor time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892039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Students lack structured, personalized study plans and progress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7D2FE"/>
                </a:solidFill>
                <a:latin typeface="Calibri"/>
              </a:rPr>
              <a:t>AI StudyBuddy is a smart, conversational learning assistant that adapts to each student's pace, understands their doubts in natural language, and builds a personalized study journey.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0"/>
            <a:ext cx="2606040" cy="27432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926080"/>
            <a:ext cx="2606040" cy="128016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2D3EE"/>
                </a:solidFill>
                <a:latin typeface="Calibri"/>
              </a:rPr>
              <a:t>Personalized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8862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Adaptive learning paths tailored to each student's strengths &amp; weaknesses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8" y="2926080"/>
            <a:ext cx="2606040" cy="27432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75888" y="2926080"/>
            <a:ext cx="2606040" cy="128016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4488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2D3EE"/>
                </a:solidFill>
                <a:latin typeface="Calibri"/>
              </a:rPr>
              <a:t>Conversational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8" y="38862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Chat-based 24×7 doubt solving using AI / NLP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28816" y="2926080"/>
            <a:ext cx="2606040" cy="27432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28816" y="2926080"/>
            <a:ext cx="2606040" cy="128016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7416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2D3EE"/>
                </a:solidFill>
                <a:latin typeface="Calibri"/>
              </a:rPr>
              <a:t>Smart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7416" y="38862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Summaries, flashcards &amp; quizzes auto-generated from study material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81744" y="2926080"/>
            <a:ext cx="2606040" cy="2743200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81744" y="2926080"/>
            <a:ext cx="2606040" cy="128016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0344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2D3EE"/>
                </a:solidFill>
                <a:latin typeface="Calibri"/>
              </a:rPr>
              <a:t>Insightful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0344" y="38862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Analytics dashboard tracks progress and suggests improvements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09728" cy="7772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5240"/>
          </a:xfrm>
          <a:prstGeom prst="rect">
            <a:avLst/>
          </a:prstGeom>
          <a:solidFill>
            <a:srgbClr val="E2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4747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476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D3440"/>
                </a:solidFill>
                <a:latin typeface="Calibri"/>
              </a:rP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963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A1A2E"/>
                </a:solidFill>
                <a:latin typeface="Calibri"/>
              </a:rPr>
              <a:t>AI Doubt Solver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Ask questions in plain language; get step-by-step explanations instantly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783080"/>
            <a:ext cx="34747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9476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D3440"/>
                </a:solidFill>
                <a:latin typeface="Calibri"/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4963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A1A2E"/>
                </a:solidFill>
                <a:latin typeface="Calibri"/>
              </a:rPr>
              <a:t>Smart Notes Summarizer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971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Upload PDFs/PPTs and receive concise summaries &amp; key 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783080"/>
            <a:ext cx="34747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9476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D3440"/>
                </a:solidFill>
                <a:latin typeface="Calibri"/>
              </a:rPr>
              <a:t>🗂️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4963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A1A2E"/>
                </a:solidFill>
                <a:latin typeface="Calibri"/>
              </a:rPr>
              <a:t>Auto Flashcards &amp; Quizzes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971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Revision material generated automatically from your syllabus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23360"/>
            <a:ext cx="34747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8795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D3440"/>
                </a:solidFill>
                <a:latin typeface="Calibri"/>
              </a:rP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365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A1A2E"/>
                </a:solidFill>
                <a:latin typeface="Calibri"/>
              </a:rPr>
              <a:t>Study Planner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12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AI-generated timetables based on exam dates and topic difficulty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023360"/>
            <a:ext cx="34747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418795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D3440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7365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A1A2E"/>
                </a:solidFill>
                <a:latin typeface="Calibri"/>
              </a:rPr>
              <a:t>Progress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5212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Visual dashboards showing mastery, weak areas &amp; study streaks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4023360"/>
            <a:ext cx="34747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418795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2D3440"/>
                </a:solidFill>
                <a:latin typeface="Calibri"/>
              </a:rPr>
              <a:t>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7365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1A1A2E"/>
                </a:solidFill>
                <a:latin typeface="Calibri"/>
              </a:rPr>
              <a:t>Multi-language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212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Learn comfortably in your preferred language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09728" cy="7772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High-level overview of how AI StudyBuddy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5240"/>
          </a:xfrm>
          <a:prstGeom prst="rect">
            <a:avLst/>
          </a:prstGeom>
          <a:solidFill>
            <a:srgbClr val="E2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828800"/>
            <a:ext cx="8503920" cy="91440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9385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385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Web / Mobile App — chat, uploads, 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6791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971800"/>
            <a:ext cx="8503920" cy="9144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30815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0815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APIs, Authentication, Session &amp; Content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8221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114800"/>
            <a:ext cx="8503920" cy="9144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2245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AI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2245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LLM + NLP (intent, summarization, quiz generation), RAG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9651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257800"/>
            <a:ext cx="8503920" cy="914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53675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53675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User profiles • Progress DB • Vector knowledge 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09728" cy="7772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5240"/>
          </a:xfrm>
          <a:prstGeom prst="rect">
            <a:avLst/>
          </a:prstGeom>
          <a:solidFill>
            <a:srgbClr val="E2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060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606040" cy="5486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47671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79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D3440"/>
                </a:solidFill>
                <a:latin typeface="Calibri"/>
              </a:rPr>
              <a:t>• React / Flutter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49038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D3440"/>
                </a:solidFill>
                <a:latin typeface="Calibri"/>
              </a:rPr>
              <a:t>• 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800598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D3440"/>
                </a:solidFill>
                <a:latin typeface="Calibri"/>
              </a:rPr>
              <a:t>• Chart.js / Recharts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8" y="1874519"/>
            <a:ext cx="26060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75888" y="1874519"/>
            <a:ext cx="2606040" cy="5486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4488" y="1947671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4488" y="2697479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D3440"/>
                </a:solidFill>
                <a:latin typeface="Calibri"/>
              </a:rPr>
              <a:t>• Python (FastAPI / Django)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4488" y="3749038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D3440"/>
                </a:solidFill>
                <a:latin typeface="Calibri"/>
              </a:rPr>
              <a:t>• REST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8" y="4800598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D3440"/>
                </a:solidFill>
                <a:latin typeface="Calibri"/>
              </a:rPr>
              <a:t>• WebSockets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28816" y="1874519"/>
            <a:ext cx="26060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28816" y="1874519"/>
            <a:ext cx="2606040" cy="5486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7416" y="1947671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AI /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7416" y="2697479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D3440"/>
                </a:solidFill>
                <a:latin typeface="Calibri"/>
              </a:rPr>
              <a:t>• LLM APIs / open-source LLMs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416" y="3749038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D3440"/>
                </a:solidFill>
                <a:latin typeface="Calibri"/>
              </a:rPr>
              <a:t>• LangChain &amp; 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6" y="4800598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D3440"/>
                </a:solidFill>
                <a:latin typeface="Calibri"/>
              </a:rPr>
              <a:t>• Hugging Face Transformers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81744" y="1874519"/>
            <a:ext cx="26060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81744" y="1874519"/>
            <a:ext cx="2606040" cy="5486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0344" y="1947671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Database &amp;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2697479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D3440"/>
                </a:solidFill>
                <a:latin typeface="Calibri"/>
              </a:rPr>
              <a:t>• PostgreSQL / MongoDB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0344" y="3749038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D3440"/>
                </a:solidFill>
                <a:latin typeface="Calibri"/>
              </a:rPr>
              <a:t>• Vector DB (FAISS / Pinecone)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0344" y="4800598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D3440"/>
                </a:solidFill>
                <a:latin typeface="Calibri"/>
              </a:rPr>
              <a:t>• AWS / Firebase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09728" cy="7772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A simple 5-step learning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5240"/>
          </a:xfrm>
          <a:prstGeom prst="rect">
            <a:avLst/>
          </a:prstGeom>
          <a:solidFill>
            <a:srgbClr val="E2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20574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2057400" cy="685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06324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A1A2E"/>
                </a:solidFill>
                <a:latin typeface="Calibri"/>
              </a:rPr>
              <a:t>Sign Up &amp; Set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886200"/>
            <a:ext cx="1783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Student creates profile, selects subjects &amp; targets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2194560"/>
            <a:ext cx="20574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0088" y="2194560"/>
            <a:ext cx="2057400" cy="685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06324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A1A2E"/>
                </a:solidFill>
                <a:latin typeface="Calibri"/>
              </a:rPr>
              <a:t>Upload /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886200"/>
            <a:ext cx="1783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Uploads study material or types a doubt in chat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4376" y="2194560"/>
            <a:ext cx="20574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94376" y="2194560"/>
            <a:ext cx="2057400" cy="685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306324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A1A2E"/>
                </a:solidFill>
                <a:latin typeface="Calibri"/>
              </a:rPr>
              <a:t>AI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3886200"/>
            <a:ext cx="1783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RAG retrieves context; LLM generates answers, summaries, quizzes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98664" y="2194560"/>
            <a:ext cx="20574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98664" y="2194560"/>
            <a:ext cx="2057400" cy="685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4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306324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A1A2E"/>
                </a:solidFill>
                <a:latin typeface="Calibri"/>
              </a:rPr>
              <a:t>Study &amp; 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3886200"/>
            <a:ext cx="1783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Student revises flashcards, takes quizzes, follows 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2952" y="2194560"/>
            <a:ext cx="2057400" cy="3017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02952" y="2194560"/>
            <a:ext cx="2057400" cy="685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2952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67544" y="306324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A1A2E"/>
                </a:solidFill>
                <a:latin typeface="Calibri"/>
              </a:rPr>
              <a:t>Track &amp; Improve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67544" y="3886200"/>
            <a:ext cx="1783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Analytics update; AI adjusts the learning path accordingly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09728" cy="7772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Benefits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5240"/>
          </a:xfrm>
          <a:prstGeom prst="rect">
            <a:avLst/>
          </a:prstGeom>
          <a:solidFill>
            <a:srgbClr val="E2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4406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440680" cy="640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For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50" b="1">
                <a:solidFill>
                  <a:srgbClr val="4F46E5"/>
                </a:solidFill>
                <a:latin typeface="Calibri"/>
              </a:rPr>
              <a:t>▸ 24×7 instant doubt resolution — no learning gaps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4F46E5"/>
                </a:solidFill>
                <a:latin typeface="Calibri"/>
              </a:rPr>
              <a:t>▸ Truly personalized pace &amp; content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4F46E5"/>
                </a:solidFill>
                <a:latin typeface="Calibri"/>
              </a:rPr>
              <a:t>▸ Faster revision with auto-generated material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4F46E5"/>
                </a:solidFill>
                <a:latin typeface="Calibri"/>
              </a:rPr>
              <a:t>▸ Data-driven study habits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828800"/>
            <a:ext cx="54406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828800"/>
            <a:ext cx="5440680" cy="64008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For Institutions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788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50" b="1">
                <a:solidFill>
                  <a:srgbClr val="4F46E5"/>
                </a:solidFill>
                <a:latin typeface="Calibri"/>
              </a:rPr>
              <a:t>▸ Scalable academic support without extra faculty load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4F46E5"/>
                </a:solidFill>
                <a:latin typeface="Calibri"/>
              </a:rPr>
              <a:t>▸ Insightful analytics on class performance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4F46E5"/>
                </a:solidFill>
                <a:latin typeface="Calibri"/>
              </a:rPr>
              <a:t>▸ Supports blended &amp; self-paced learning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Future Growth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From a final year project to a scalable ed-tech product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3474720" cy="3977639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474720" cy="59436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3911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libri"/>
              </a:rPr>
              <a:t>Short Term (0–6 mo)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8346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✦ Refine RAG accuracy &amp; response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794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✦ Launch beta with pilot student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754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✦ Mobile app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965960"/>
            <a:ext cx="3474720" cy="3977639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20" y="1965960"/>
            <a:ext cx="3474720" cy="5943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03911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libri"/>
              </a:rPr>
              <a:t>Mid Term (6–18 mo)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8346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✦ Voice-based tutoring &amp; multilingual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3794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✦ Gamification: streaks, badges, leaderboards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4754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✦ Collaborative study rooms &amp; peer matching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965960"/>
            <a:ext cx="3474720" cy="3977639"/>
          </a:xfrm>
          <a:prstGeom prst="round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1965960"/>
            <a:ext cx="3474720" cy="5943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03911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libri"/>
              </a:rPr>
              <a:t>Long Term (18+ mo)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28346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✦ Institution &amp; school partnerships (B2B SaaS)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37947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✦ Adaptive exam-prep for competitive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4754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✦ Integration with AR/VR immersive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Growth vision: personalized education accessible to every learner, everywhere. 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09728" cy="7772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5240"/>
          </a:xfrm>
          <a:prstGeom prst="rect">
            <a:avLst/>
          </a:prstGeom>
          <a:solidFill>
            <a:srgbClr val="E2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D3440"/>
                </a:solidFill>
                <a:latin typeface="Calibri"/>
              </a:rPr>
              <a:t>AI StudyBuddy transforms self-study from a lonely, one-size-fits-all routine into an intelligent, interactive and personalized experience — solving doubts instantly, organizing revision automatically, and guiding every student toward measurable improvement.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10332720" cy="279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F46E5"/>
                </a:solidFill>
                <a:latin typeface="Calibri"/>
              </a:rPr>
              <a:t>✔  Personalized AI tutoring, available 24×7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731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F46E5"/>
                </a:solidFill>
                <a:latin typeface="Calibri"/>
              </a:rPr>
              <a:t>✔  Automated summaries, flashcards &amp; quizzes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0096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F46E5"/>
                </a:solidFill>
                <a:latin typeface="Calibri"/>
              </a:rPr>
              <a:t>✔  Clear roadmap for future growth &amp; scalability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74920" y="3657600"/>
            <a:ext cx="2011680" cy="4445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7D2F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Calibri"/>
              </a:rPr>
              <a:t>AI StudyBuddy — Learn Smarter, Not Harder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